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8" r:id="rId3"/>
    <p:sldId id="259" r:id="rId4"/>
    <p:sldId id="260" r:id="rId5"/>
    <p:sldId id="262" r:id="rId6"/>
    <p:sldId id="265" r:id="rId7"/>
    <p:sldId id="268" r:id="rId8"/>
    <p:sldId id="266" r:id="rId9"/>
    <p:sldId id="276" r:id="rId10"/>
    <p:sldId id="263" r:id="rId11"/>
    <p:sldId id="264" r:id="rId12"/>
    <p:sldId id="270" r:id="rId13"/>
    <p:sldId id="271" r:id="rId14"/>
    <p:sldId id="272" r:id="rId15"/>
    <p:sldId id="274" r:id="rId16"/>
    <p:sldId id="275" r:id="rId17"/>
    <p:sldId id="257" r:id="rId18"/>
    <p:sldId id="269" r:id="rId19"/>
    <p:sldId id="280" r:id="rId20"/>
    <p:sldId id="292" r:id="rId21"/>
    <p:sldId id="281" r:id="rId22"/>
    <p:sldId id="282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3" r:id="rId31"/>
    <p:sldId id="291" r:id="rId32"/>
    <p:sldId id="294" r:id="rId33"/>
    <p:sldId id="283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024" autoAdjust="0"/>
  </p:normalViewPr>
  <p:slideViewPr>
    <p:cSldViewPr snapToGrid="0">
      <p:cViewPr varScale="1">
        <p:scale>
          <a:sx n="67" d="100"/>
          <a:sy n="67" d="100"/>
        </p:scale>
        <p:origin x="6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D0898A-8E11-4C86-8F6A-2847CF8DC380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111ED-1442-48C5-9777-F5E930817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354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111ED-1442-48C5-9777-F5E930817C4D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626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111ED-1442-48C5-9777-F5E930817C4D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911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111ED-1442-48C5-9777-F5E930817C4D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621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IMPORTANT RULE</a:t>
            </a:r>
          </a:p>
          <a:p>
            <a:r>
              <a:rPr lang="en-US" dirty="0"/>
              <a:t> Spark will ONLY read </a:t>
            </a:r>
            <a:r>
              <a:rPr lang="en-US" b="1" dirty="0"/>
              <a:t>new files</a:t>
            </a:r>
            <a:br>
              <a:rPr lang="en-US" dirty="0"/>
            </a:br>
            <a:r>
              <a:rPr lang="en-US" dirty="0"/>
              <a:t> It will NOT reread old files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111ED-1442-48C5-9777-F5E930817C4D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793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F667-4031-D504-0F16-F2B971FAC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B13881-76EB-1C8E-DF69-5EE2ACEC0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8513E-3F02-D8F0-ED44-F7FB5599E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F2F5-39B0-4D4D-80CC-0FEFD8657BEE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61248-C019-7127-5281-E810BB91B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63E4C-F650-06D8-A43F-24085106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2C0B8-D112-42BF-BEB5-59825BECE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78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A4C68-A67C-3A68-F5FB-FAA9B5190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E2AC2-AE18-09DD-143D-B2F073E25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474E9-8620-13FE-17A7-FEE2B256D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F2F5-39B0-4D4D-80CC-0FEFD8657BEE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0EBC7-35A1-702E-ED90-3907DC274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45794-41D5-B5B7-D3CD-FD7C0A0E8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2C0B8-D112-42BF-BEB5-59825BECE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884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6D857-9D4C-BF2D-98D0-2BC6D58B0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8EB05-864A-E8B5-84F6-7814092EF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35032-3BB5-B58B-F49C-51CC5E265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F2F5-39B0-4D4D-80CC-0FEFD8657BEE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09C03-FF46-6C2B-4382-57F2E2A1C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00C1D-F27B-09FF-7291-4D8354A0E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2C0B8-D112-42BF-BEB5-59825BECE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682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5AF47-3EF4-885B-5B97-66656A33F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E1F15-54A6-2BD5-47C7-9661AA0F11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2B7C0B-0587-7D2F-7AA0-500D9E031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9843AB-4215-4F8A-A815-E16EE8BE1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F2F5-39B0-4D4D-80CC-0FEFD8657BEE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8EC4A-1AB5-EDB0-E011-D293D4911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93ABE-6CC9-7A40-340D-E67F07B3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2C0B8-D112-42BF-BEB5-59825BECE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05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17428-54CD-A1A8-4C9A-A8EDAC33B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F62B4-53B2-C8A0-3DB3-E386ED326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D12DA6-6968-6D35-5298-F73BC8B61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1DBAA4-F3D0-136F-8423-16D6926572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F19157-37D9-B886-072A-31FF09A3EC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B9CA69-B4BA-7FA7-1A3B-50F61CDA5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F2F5-39B0-4D4D-80CC-0FEFD8657BEE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2CAB21-3B19-2C41-CAC0-48B115A3F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9F536B-6BC8-BE49-1490-9C35723EE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2C0B8-D112-42BF-BEB5-59825BECE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488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37EA0-9CEE-5F14-2AE3-899CC87FB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D208E2-DF32-A10C-8FEA-DD158CF74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F2F5-39B0-4D4D-80CC-0FEFD8657BEE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65212E-EB62-0018-8E25-9F66390D1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F3685B-E292-81E1-89F9-BC79BD13D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2C0B8-D112-42BF-BEB5-59825BECE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399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8989EE-DF06-3554-6FBC-CDBEFA5AE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F2F5-39B0-4D4D-80CC-0FEFD8657BEE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7BA9BF-C1CA-8665-E7BE-488DA5496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73398-7498-4050-CAC8-D47905DD3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2C0B8-D112-42BF-BEB5-59825BECE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80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7A827-EC1C-3A05-4464-5400EA007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E8C05-DA4C-DAC9-5EA2-C85B921CF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74FBA-477A-3705-C95C-4A6CCF1FA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ABA8B-076C-F31C-07D6-D7F1294DB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F2F5-39B0-4D4D-80CC-0FEFD8657BEE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86EF4-BC73-DF15-DE3F-9BB718D1A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F8593-E081-29AE-FB82-E407CAC74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2C0B8-D112-42BF-BEB5-59825BECE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429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DE5FD-2168-F6B0-60F8-08B872917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64F14C-19EF-321E-C8B1-408DF8F51D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4F5639-BDBC-C892-B544-71DF4073A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BBDEE8-4CAA-9286-D7D6-0F947953A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F2F5-39B0-4D4D-80CC-0FEFD8657BEE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E7CA7-7888-15CC-78A5-F1550F339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B42E09-6B78-0FCB-6A59-53301C153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2C0B8-D112-42BF-BEB5-59825BECE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42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A4C6F-46A7-EE2F-AA68-D32E30F0A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FF6C34-1791-8982-39BA-3B6D55EAFD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15CC1-E507-49DF-6569-9143EC224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F2F5-39B0-4D4D-80CC-0FEFD8657BEE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3976C-535D-B613-978D-D0B8CB380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2D181-FC15-1EC2-405F-5A4CA48D1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2C0B8-D112-42BF-BEB5-59825BECE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862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EFF893-9BEF-5392-A9D1-D46BFC8BD5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3F3B82-B13E-BC60-D468-47493E104C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8BFB6-0E2C-0819-C8D5-A6D623C6F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F2F5-39B0-4D4D-80CC-0FEFD8657BEE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22D19-5216-CB10-38AC-071892F74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FE42D-DA4C-0775-EED3-614DBD6C6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2C0B8-D112-42BF-BEB5-59825BECE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784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DAFAC7-3E62-389E-D1D1-2D495EAE7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FCC70-0D0E-90C9-C05C-B9486BED3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8048A-3A01-37BB-AAE8-06F48D3316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96F2F5-39B0-4D4D-80CC-0FEFD8657BEE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271EE-6D8B-2958-B41D-4D6AE823F6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DEFBC-20F9-2912-1676-9F377CE7F3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F2C0B8-D112-42BF-BEB5-59825BECE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804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FF045-0917-79CC-BDB9-49A61B03EC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Hadoop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E1AB36-749B-89C6-F8DD-6BD521798D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143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DE2CD-38BC-52E3-50FE-27292141F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Big Data?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A0EDF-257A-14A2-CC08-8FE2D9276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Big Data = very large amount of data that is too big, too fast, or too complex for normal computers (like Excel or a single database) to handle.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Think of:</a:t>
            </a:r>
          </a:p>
          <a:p>
            <a:r>
              <a:rPr lang="en-US" dirty="0"/>
              <a:t>WhatsApp messages </a:t>
            </a:r>
          </a:p>
          <a:p>
            <a:r>
              <a:rPr lang="en-US" dirty="0"/>
              <a:t>Instagram photos &amp; reels </a:t>
            </a:r>
          </a:p>
          <a:p>
            <a:r>
              <a:rPr lang="en-US" dirty="0"/>
              <a:t>Amazon orders </a:t>
            </a:r>
          </a:p>
          <a:p>
            <a:pPr marL="0" indent="0">
              <a:buNone/>
            </a:pPr>
            <a:r>
              <a:rPr lang="en-US" dirty="0"/>
              <a:t>All this together = </a:t>
            </a:r>
            <a:r>
              <a:rPr lang="en-US" b="1" dirty="0"/>
              <a:t>Big Data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4078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84D5A-6FAB-C9C0-835F-17F893734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The 3 V’s of Big 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21C2B-0596-3BD3-6B7C-EF0A0ABBE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Volume</a:t>
            </a:r>
            <a:r>
              <a:rPr lang="en-IN" dirty="0"/>
              <a:t> – Huge amount of data</a:t>
            </a:r>
          </a:p>
          <a:p>
            <a:pPr lvl="1"/>
            <a:r>
              <a:rPr lang="en-IN" dirty="0"/>
              <a:t>Facebook → petabytes of photos</a:t>
            </a:r>
          </a:p>
          <a:p>
            <a:r>
              <a:rPr lang="en-IN" b="1" dirty="0"/>
              <a:t>Velocity</a:t>
            </a:r>
            <a:r>
              <a:rPr lang="en-IN" dirty="0"/>
              <a:t> – Speed of data</a:t>
            </a:r>
          </a:p>
          <a:p>
            <a:pPr lvl="1"/>
            <a:r>
              <a:rPr lang="en-IN" dirty="0"/>
              <a:t>Live tweets, stock prices, GPS tracking</a:t>
            </a:r>
          </a:p>
          <a:p>
            <a:r>
              <a:rPr lang="en-IN" b="1" dirty="0"/>
              <a:t>Variety</a:t>
            </a:r>
            <a:r>
              <a:rPr lang="en-IN" dirty="0"/>
              <a:t> – Different types</a:t>
            </a:r>
          </a:p>
          <a:p>
            <a:pPr lvl="1"/>
            <a:r>
              <a:rPr lang="en-IN" dirty="0"/>
              <a:t>Text, image, video, audio, logs</a:t>
            </a:r>
          </a:p>
          <a:p>
            <a:r>
              <a:rPr lang="en-IN" dirty="0"/>
              <a:t>If data has these → it’s Big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0021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21FE8-430D-AB2D-07B4-16E6DB6CD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Real-life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14799-EC88-9910-03AC-DACA479BA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Netflix</a:t>
            </a:r>
          </a:p>
          <a:p>
            <a:r>
              <a:rPr lang="en-US" dirty="0"/>
              <a:t>Netflix collects:</a:t>
            </a:r>
          </a:p>
          <a:p>
            <a:r>
              <a:rPr lang="en-US" dirty="0"/>
              <a:t>What you watch</a:t>
            </a:r>
          </a:p>
          <a:p>
            <a:r>
              <a:rPr lang="en-US" dirty="0"/>
              <a:t>When you pause</a:t>
            </a:r>
          </a:p>
          <a:p>
            <a:r>
              <a:rPr lang="en-US" dirty="0"/>
              <a:t>What you skip</a:t>
            </a:r>
          </a:p>
          <a:p>
            <a:pPr marL="0" indent="0">
              <a:buNone/>
            </a:pPr>
            <a:r>
              <a:rPr lang="en-US" dirty="0"/>
              <a:t>Device used</a:t>
            </a:r>
          </a:p>
          <a:p>
            <a:r>
              <a:rPr lang="en-US" dirty="0"/>
              <a:t>Big Data helps Netflix:</a:t>
            </a:r>
          </a:p>
          <a:p>
            <a:r>
              <a:rPr lang="en-US" dirty="0"/>
              <a:t>Recommend shows</a:t>
            </a:r>
          </a:p>
          <a:p>
            <a:r>
              <a:rPr lang="en-US" dirty="0"/>
              <a:t>Decide which series to produce</a:t>
            </a:r>
          </a:p>
          <a:p>
            <a:r>
              <a:rPr lang="en-US" dirty="0"/>
              <a:t>Improve streaming quality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7632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67086-C341-75DE-A690-2EA99CEC9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Hadoop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C1FA2-E4AE-D360-EBDC-8739EE5FC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Hadoop is a framework to store and process very large data (Big Data) across many computers.</a:t>
            </a:r>
            <a:endParaRPr lang="en-US" dirty="0"/>
          </a:p>
          <a:p>
            <a:r>
              <a:rPr lang="en-US" dirty="0"/>
              <a:t>One laptop can’t handle TBs or PBs of data</a:t>
            </a:r>
            <a:br>
              <a:rPr lang="en-US" dirty="0"/>
            </a:br>
            <a:r>
              <a:rPr lang="en-US" dirty="0"/>
              <a:t>Hadoop </a:t>
            </a:r>
            <a:r>
              <a:rPr lang="en-US" b="1" dirty="0"/>
              <a:t>splits the data + work</a:t>
            </a:r>
            <a:r>
              <a:rPr lang="en-US" dirty="0"/>
              <a:t> across many machines and finishes the job faster.</a:t>
            </a:r>
          </a:p>
          <a:p>
            <a:r>
              <a:rPr lang="en-US" dirty="0"/>
              <a:t>unlimited storage</a:t>
            </a:r>
          </a:p>
          <a:p>
            <a:r>
              <a:rPr lang="en-US" dirty="0"/>
              <a:t>horizontally unlimited scalability i.e. no limit of max number of slave nodes</a:t>
            </a:r>
          </a:p>
          <a:p>
            <a:r>
              <a:rPr lang="en-US" dirty="0"/>
              <a:t>supports parallel processing with the help of replica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5242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85EDC-111E-52BA-20A6-C17A4EE1B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Where Hadoop is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81C67-E499-0DCF-7DB7-3429CA0A6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Log processing (Netflix, Amazon)</a:t>
            </a:r>
          </a:p>
          <a:p>
            <a:r>
              <a:rPr lang="en-IN" dirty="0"/>
              <a:t>Clickstream analysis</a:t>
            </a:r>
          </a:p>
          <a:p>
            <a:r>
              <a:rPr lang="en-IN" dirty="0"/>
              <a:t>Banking transactions</a:t>
            </a:r>
          </a:p>
          <a:p>
            <a:r>
              <a:rPr lang="en-IN" dirty="0"/>
              <a:t>Telecom call data</a:t>
            </a:r>
          </a:p>
          <a:p>
            <a:r>
              <a:rPr lang="en-IN" dirty="0"/>
              <a:t>IoT sensor data</a:t>
            </a:r>
          </a:p>
          <a:p>
            <a:r>
              <a:rPr lang="en-IN" dirty="0"/>
              <a:t>Social media analytics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8782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A8D9F-9A83-B745-FD51-A177AD2E1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Components of Hadoop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EBFAE-29EE-9335-FAC5-CC2144A64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Hadoop Architecture Mainly consists of 3 components:</a:t>
            </a:r>
          </a:p>
          <a:p>
            <a:pPr fontAlgn="base"/>
            <a:r>
              <a:rPr lang="en-US" dirty="0"/>
              <a:t>HDFS (Hadoop Distributed File System)</a:t>
            </a:r>
          </a:p>
          <a:p>
            <a:pPr fontAlgn="base"/>
            <a:r>
              <a:rPr lang="en-US" dirty="0"/>
              <a:t>YARN (Yet Another Resource Negotiator)</a:t>
            </a:r>
          </a:p>
          <a:p>
            <a:pPr fontAlgn="base"/>
            <a:r>
              <a:rPr lang="en-US" dirty="0"/>
              <a:t>MapReduce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4225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3E95-E5B0-1FD0-5766-76BA87798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Hadoop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B0249F-9B93-1A39-F05F-70BFF55BE4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8752" y="2035246"/>
            <a:ext cx="7245722" cy="313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833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008FF5-3057-A263-3D8B-38BBD11900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808" y="165874"/>
            <a:ext cx="11756506" cy="605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750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FB28B-C6F6-E5AA-D277-790238BF1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Core components of Hadoop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D7134-B16A-E68C-787F-2A15E1F7B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HDFS (Storage layer)</a:t>
            </a:r>
          </a:p>
          <a:p>
            <a:pPr marL="0" indent="0">
              <a:buNone/>
            </a:pPr>
            <a:r>
              <a:rPr lang="en-US" b="1" dirty="0"/>
              <a:t>HDFS = Hadoop Distributed File System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Stores big files by </a:t>
            </a:r>
            <a:r>
              <a:rPr lang="en-US" b="1" dirty="0"/>
              <a:t>breaking them into blocks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Spreads blocks across multiple machines</a:t>
            </a:r>
          </a:p>
          <a:p>
            <a:pPr marL="0" indent="0">
              <a:buNone/>
            </a:pPr>
            <a:r>
              <a:rPr lang="en-US" dirty="0"/>
              <a:t>Keeps </a:t>
            </a:r>
            <a:r>
              <a:rPr lang="en-US" b="1" dirty="0"/>
              <a:t>multiple copies (replicas)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100 GB file</a:t>
            </a:r>
          </a:p>
          <a:p>
            <a:pPr marL="0" indent="0">
              <a:buNone/>
            </a:pPr>
            <a:r>
              <a:rPr lang="en-US" dirty="0"/>
              <a:t>→ split into 128 MB blocks</a:t>
            </a:r>
          </a:p>
          <a:p>
            <a:pPr marL="0" indent="0">
              <a:buNone/>
            </a:pPr>
            <a:r>
              <a:rPr lang="en-US" dirty="0"/>
              <a:t>→ stored across 10 machines</a:t>
            </a:r>
          </a:p>
          <a:p>
            <a:pPr marL="0" indent="0">
              <a:buNone/>
            </a:pPr>
            <a:r>
              <a:rPr lang="en-US" dirty="0"/>
              <a:t>→ 3 replicas each</a:t>
            </a:r>
          </a:p>
          <a:p>
            <a:pPr marL="0" indent="0">
              <a:buNone/>
            </a:pPr>
            <a:r>
              <a:rPr lang="en-US" dirty="0"/>
              <a:t>If one machine fails → data still safe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1621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7F064-713C-2855-EC90-F184208BA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MapReduce (Processing layer – old but foundational)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52C2A-E3DD-FE51-2FA0-CA920AA81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MapReduce = programming model for parallel processing</a:t>
            </a:r>
            <a:endParaRPr lang="en-IN" dirty="0"/>
          </a:p>
          <a:p>
            <a:r>
              <a:rPr lang="en-IN" dirty="0"/>
              <a:t>Two phases:</a:t>
            </a:r>
          </a:p>
          <a:p>
            <a:r>
              <a:rPr lang="en-IN" b="1" dirty="0"/>
              <a:t>Map</a:t>
            </a:r>
            <a:r>
              <a:rPr lang="en-IN" dirty="0"/>
              <a:t> → process chunks of data</a:t>
            </a:r>
          </a:p>
          <a:p>
            <a:r>
              <a:rPr lang="en-IN" b="1" dirty="0"/>
              <a:t>Reduce</a:t>
            </a:r>
            <a:r>
              <a:rPr lang="en-IN" dirty="0"/>
              <a:t> → combine results</a:t>
            </a:r>
          </a:p>
          <a:p>
            <a:r>
              <a:rPr lang="en-IN" dirty="0"/>
              <a:t>Example:</a:t>
            </a:r>
            <a:br>
              <a:rPr lang="en-IN" dirty="0"/>
            </a:br>
            <a:r>
              <a:rPr lang="en-IN" dirty="0"/>
              <a:t>Word Count:</a:t>
            </a:r>
          </a:p>
          <a:p>
            <a:r>
              <a:rPr lang="en-IN" dirty="0"/>
              <a:t>Map:  hello → 1</a:t>
            </a:r>
          </a:p>
          <a:p>
            <a:r>
              <a:rPr lang="en-IN" dirty="0"/>
              <a:t>Map:  hello → 1</a:t>
            </a:r>
          </a:p>
          <a:p>
            <a:r>
              <a:rPr lang="en-IN" dirty="0"/>
              <a:t>Reduce: hello → 2</a:t>
            </a:r>
          </a:p>
          <a:p>
            <a:r>
              <a:rPr lang="en-IN" dirty="0"/>
              <a:t>MapReduce is </a:t>
            </a:r>
            <a:r>
              <a:rPr lang="en-IN" b="1" dirty="0"/>
              <a:t>slow</a:t>
            </a:r>
            <a:r>
              <a:rPr lang="en-IN" dirty="0"/>
              <a:t> for modern use cases</a:t>
            </a:r>
            <a:br>
              <a:rPr lang="en-IN" dirty="0"/>
            </a:br>
            <a:r>
              <a:rPr lang="en-IN" dirty="0"/>
              <a:t>Mostly replaced by </a:t>
            </a:r>
            <a:r>
              <a:rPr lang="en-IN" b="1" dirty="0"/>
              <a:t>Spark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6827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085F-B8F0-32C7-519E-65F554BF7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Cloudera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5DEA2-646C-845E-71CD-FAAD98CB3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Cloudera</a:t>
            </a:r>
            <a:r>
              <a:rPr lang="en-US" dirty="0"/>
              <a:t> is a company that provides a </a:t>
            </a:r>
            <a:r>
              <a:rPr lang="en-US" b="1" dirty="0"/>
              <a:t>big data platform</a:t>
            </a:r>
            <a:r>
              <a:rPr lang="en-US" dirty="0"/>
              <a:t> used to store, process, and analyze large amounts of data, especially in enterprise environments.</a:t>
            </a:r>
          </a:p>
          <a:p>
            <a:r>
              <a:rPr lang="en-US" dirty="0"/>
              <a:t>Cloudera = A </a:t>
            </a:r>
            <a:r>
              <a:rPr lang="en-US" b="1" dirty="0"/>
              <a:t>managed Hadoop ecosystem</a:t>
            </a:r>
            <a:br>
              <a:rPr lang="en-US" dirty="0"/>
            </a:br>
            <a:r>
              <a:rPr lang="en-US" dirty="0"/>
              <a:t>It helps you </a:t>
            </a:r>
            <a:r>
              <a:rPr lang="en-US" b="1" dirty="0"/>
              <a:t>run tools like Hadoop, Spark, Hive, etc. easily</a:t>
            </a:r>
            <a:r>
              <a:rPr lang="en-US" dirty="0"/>
              <a:t> without setting everything up manually.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7911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AD7F7-AFDA-1AFF-7066-28DA09256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Cloudera Data 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00165-F84E-6EDE-61F6-1DA9843F6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Cloudera offers a platform called CDP</a:t>
            </a:r>
          </a:p>
          <a:p>
            <a:pPr marL="0" indent="0">
              <a:buNone/>
            </a:pPr>
            <a:r>
              <a:rPr lang="en-IN" dirty="0"/>
              <a:t>This platform includes:</a:t>
            </a:r>
          </a:p>
          <a:p>
            <a:r>
              <a:rPr lang="en-IN" b="1" dirty="0"/>
              <a:t>HDFS</a:t>
            </a:r>
            <a:r>
              <a:rPr lang="en-IN" dirty="0"/>
              <a:t> → Storage (big data file system) </a:t>
            </a:r>
          </a:p>
          <a:p>
            <a:r>
              <a:rPr lang="en-IN" b="1" dirty="0"/>
              <a:t>YARN</a:t>
            </a:r>
            <a:r>
              <a:rPr lang="en-IN" dirty="0"/>
              <a:t> → Resource management </a:t>
            </a:r>
          </a:p>
          <a:p>
            <a:r>
              <a:rPr lang="en-IN" b="1" dirty="0"/>
              <a:t>Hive</a:t>
            </a:r>
            <a:r>
              <a:rPr lang="en-IN" dirty="0"/>
              <a:t> → SQL on big data </a:t>
            </a:r>
          </a:p>
          <a:p>
            <a:r>
              <a:rPr lang="en-IN" b="1" dirty="0"/>
              <a:t>Spark</a:t>
            </a:r>
            <a:r>
              <a:rPr lang="en-IN" dirty="0"/>
              <a:t> → Fast data processing </a:t>
            </a:r>
          </a:p>
          <a:p>
            <a:r>
              <a:rPr lang="en-IN" b="1" dirty="0"/>
              <a:t>Impala</a:t>
            </a:r>
            <a:r>
              <a:rPr lang="en-IN" dirty="0"/>
              <a:t> → Fast SQL queries </a:t>
            </a:r>
          </a:p>
          <a:p>
            <a:r>
              <a:rPr lang="en-IN" b="1" dirty="0"/>
              <a:t>Hue</a:t>
            </a:r>
            <a:r>
              <a:rPr lang="en-IN" dirty="0"/>
              <a:t> → Web UI to run queries </a:t>
            </a:r>
          </a:p>
          <a:p>
            <a:r>
              <a:rPr lang="en-IN" b="1" dirty="0"/>
              <a:t>Oozie</a:t>
            </a:r>
            <a:r>
              <a:rPr lang="en-IN" dirty="0"/>
              <a:t> → Workflow scheduling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1170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5F65D-573D-6747-0CF3-E5C24E140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HDFS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8E11A-D9C7-C51F-B395-FAC99ACA5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 1. List files in HDFS</a:t>
            </a:r>
          </a:p>
          <a:p>
            <a:r>
              <a:rPr lang="en-IN" dirty="0" err="1"/>
              <a:t>hdfs</a:t>
            </a:r>
            <a:r>
              <a:rPr lang="en-IN" dirty="0"/>
              <a:t> </a:t>
            </a:r>
            <a:r>
              <a:rPr lang="en-IN" dirty="0" err="1"/>
              <a:t>dfs</a:t>
            </a:r>
            <a:r>
              <a:rPr lang="en-IN" dirty="0"/>
              <a:t> -ls /</a:t>
            </a:r>
          </a:p>
          <a:p>
            <a:r>
              <a:rPr lang="en-IN" dirty="0" err="1"/>
              <a:t>hdfs</a:t>
            </a:r>
            <a:r>
              <a:rPr lang="en-IN" dirty="0"/>
              <a:t> </a:t>
            </a:r>
            <a:r>
              <a:rPr lang="en-IN" dirty="0" err="1"/>
              <a:t>dfs</a:t>
            </a:r>
            <a:r>
              <a:rPr lang="en-IN" dirty="0"/>
              <a:t> -ls /user/</a:t>
            </a:r>
            <a:r>
              <a:rPr lang="en-IN" dirty="0" err="1"/>
              <a:t>cloudera</a:t>
            </a:r>
            <a:endParaRPr lang="en-IN" dirty="0"/>
          </a:p>
          <a:p>
            <a:r>
              <a:rPr lang="en-IN" b="1" dirty="0"/>
              <a:t>2. Create directory in HDFS</a:t>
            </a:r>
          </a:p>
          <a:p>
            <a:r>
              <a:rPr lang="en-IN" dirty="0" err="1"/>
              <a:t>hdfs</a:t>
            </a:r>
            <a:r>
              <a:rPr lang="en-IN" dirty="0"/>
              <a:t> </a:t>
            </a:r>
            <a:r>
              <a:rPr lang="en-IN" dirty="0" err="1"/>
              <a:t>dfs</a:t>
            </a:r>
            <a:r>
              <a:rPr lang="en-IN" dirty="0"/>
              <a:t> -</a:t>
            </a:r>
            <a:r>
              <a:rPr lang="en-IN" dirty="0" err="1"/>
              <a:t>mkdir</a:t>
            </a:r>
            <a:r>
              <a:rPr lang="en-IN" dirty="0"/>
              <a:t> /user/</a:t>
            </a:r>
            <a:r>
              <a:rPr lang="en-IN" dirty="0" err="1"/>
              <a:t>cloudera</a:t>
            </a:r>
            <a:r>
              <a:rPr lang="en-IN" dirty="0"/>
              <a:t>/</a:t>
            </a:r>
            <a:r>
              <a:rPr lang="en-IN" dirty="0" err="1"/>
              <a:t>testdir</a:t>
            </a:r>
            <a:endParaRPr lang="en-IN" dirty="0"/>
          </a:p>
          <a:p>
            <a:r>
              <a:rPr lang="en-IN" dirty="0" err="1"/>
              <a:t>hdfs</a:t>
            </a:r>
            <a:r>
              <a:rPr lang="en-IN" dirty="0"/>
              <a:t> </a:t>
            </a:r>
            <a:r>
              <a:rPr lang="en-IN" dirty="0" err="1"/>
              <a:t>dfs</a:t>
            </a:r>
            <a:r>
              <a:rPr lang="en-IN" dirty="0"/>
              <a:t> -</a:t>
            </a:r>
            <a:r>
              <a:rPr lang="en-IN" dirty="0" err="1"/>
              <a:t>mkdir</a:t>
            </a:r>
            <a:r>
              <a:rPr lang="en-IN" dirty="0"/>
              <a:t> -p /user/</a:t>
            </a:r>
            <a:r>
              <a:rPr lang="en-IN" dirty="0" err="1"/>
              <a:t>cloudera</a:t>
            </a:r>
            <a:r>
              <a:rPr lang="en-IN" dirty="0"/>
              <a:t>/data/input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233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ED413-0989-6A17-6503-4E1E634BD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F54C5-0183-ECEF-2587-CAFE1F929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4. Delete files/directories</a:t>
            </a:r>
          </a:p>
          <a:p>
            <a:r>
              <a:rPr lang="en-IN" dirty="0" err="1"/>
              <a:t>hdfs</a:t>
            </a:r>
            <a:r>
              <a:rPr lang="en-IN" dirty="0"/>
              <a:t> </a:t>
            </a:r>
            <a:r>
              <a:rPr lang="en-IN" dirty="0" err="1"/>
              <a:t>dfs</a:t>
            </a:r>
            <a:r>
              <a:rPr lang="en-IN" dirty="0"/>
              <a:t> -rm /user/</a:t>
            </a:r>
            <a:r>
              <a:rPr lang="en-IN" dirty="0" err="1"/>
              <a:t>cloudera</a:t>
            </a:r>
            <a:r>
              <a:rPr lang="en-IN" dirty="0"/>
              <a:t>/test.txt</a:t>
            </a:r>
          </a:p>
          <a:p>
            <a:pPr marL="0" indent="0">
              <a:buNone/>
            </a:pPr>
            <a:r>
              <a:rPr lang="en-IN" dirty="0"/>
              <a:t> Delete directory:</a:t>
            </a:r>
          </a:p>
          <a:p>
            <a:r>
              <a:rPr lang="en-IN" dirty="0" err="1"/>
              <a:t>hdfs</a:t>
            </a:r>
            <a:r>
              <a:rPr lang="en-IN" dirty="0"/>
              <a:t> </a:t>
            </a:r>
            <a:r>
              <a:rPr lang="en-IN" dirty="0" err="1"/>
              <a:t>dfs</a:t>
            </a:r>
            <a:r>
              <a:rPr lang="en-IN" dirty="0"/>
              <a:t> -rm -r /user/</a:t>
            </a:r>
            <a:r>
              <a:rPr lang="en-IN" dirty="0" err="1"/>
              <a:t>cloudera</a:t>
            </a:r>
            <a:r>
              <a:rPr lang="en-IN" dirty="0"/>
              <a:t>/</a:t>
            </a:r>
            <a:r>
              <a:rPr lang="en-IN" dirty="0" err="1"/>
              <a:t>testdir</a:t>
            </a:r>
            <a:endParaRPr lang="en-IN" dirty="0"/>
          </a:p>
          <a:p>
            <a:r>
              <a:rPr lang="en-IN" b="1" dirty="0"/>
              <a:t>5. Move/Rename file</a:t>
            </a:r>
          </a:p>
          <a:p>
            <a:r>
              <a:rPr lang="en-IN" dirty="0" err="1"/>
              <a:t>hdfs</a:t>
            </a:r>
            <a:r>
              <a:rPr lang="en-IN" dirty="0"/>
              <a:t> </a:t>
            </a:r>
            <a:r>
              <a:rPr lang="en-IN" dirty="0" err="1"/>
              <a:t>dfs</a:t>
            </a:r>
            <a:r>
              <a:rPr lang="en-IN" dirty="0"/>
              <a:t> -mv /user/</a:t>
            </a:r>
            <a:r>
              <a:rPr lang="en-IN" dirty="0" err="1"/>
              <a:t>cloudera</a:t>
            </a:r>
            <a:r>
              <a:rPr lang="en-IN" dirty="0"/>
              <a:t>/test.txt /user/</a:t>
            </a:r>
            <a:r>
              <a:rPr lang="en-IN" dirty="0" err="1"/>
              <a:t>cloudera</a:t>
            </a:r>
            <a:r>
              <a:rPr lang="en-IN" dirty="0"/>
              <a:t>/newname.txt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8064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0BF9C-04BD-D0E4-01E2-AB0D2C3B2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2A41D-72B1-0F8C-AE28-05CBDE4C9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6. Upload file (Local → HDFS)</a:t>
            </a:r>
          </a:p>
          <a:p>
            <a:r>
              <a:rPr lang="en-IN" dirty="0" err="1"/>
              <a:t>hdfs</a:t>
            </a:r>
            <a:r>
              <a:rPr lang="en-IN" dirty="0"/>
              <a:t> </a:t>
            </a:r>
            <a:r>
              <a:rPr lang="en-IN" dirty="0" err="1"/>
              <a:t>dfs</a:t>
            </a:r>
            <a:r>
              <a:rPr lang="en-IN" dirty="0"/>
              <a:t> -put test.txt /user/</a:t>
            </a:r>
            <a:r>
              <a:rPr lang="en-IN" dirty="0" err="1"/>
              <a:t>cloudera</a:t>
            </a:r>
            <a:r>
              <a:rPr lang="en-IN" dirty="0"/>
              <a:t>/</a:t>
            </a:r>
          </a:p>
          <a:p>
            <a:r>
              <a:rPr lang="en-IN" b="1" dirty="0"/>
              <a:t>7. Download file (HDFS → Local)</a:t>
            </a:r>
          </a:p>
          <a:p>
            <a:r>
              <a:rPr lang="en-IN" dirty="0" err="1"/>
              <a:t>hdfs</a:t>
            </a:r>
            <a:r>
              <a:rPr lang="en-IN" dirty="0"/>
              <a:t> </a:t>
            </a:r>
            <a:r>
              <a:rPr lang="en-IN" dirty="0" err="1"/>
              <a:t>dfs</a:t>
            </a:r>
            <a:r>
              <a:rPr lang="en-IN" dirty="0"/>
              <a:t> -get /user/</a:t>
            </a:r>
            <a:r>
              <a:rPr lang="en-IN" dirty="0" err="1"/>
              <a:t>cloudera</a:t>
            </a:r>
            <a:r>
              <a:rPr lang="en-IN" dirty="0"/>
              <a:t>/test.txt</a:t>
            </a:r>
          </a:p>
          <a:p>
            <a:r>
              <a:rPr lang="en-IN" b="1" dirty="0"/>
              <a:t>8. Copy file inside HDFS</a:t>
            </a:r>
          </a:p>
          <a:p>
            <a:r>
              <a:rPr lang="en-IN" dirty="0" err="1"/>
              <a:t>hdfs</a:t>
            </a:r>
            <a:r>
              <a:rPr lang="en-IN" dirty="0"/>
              <a:t> </a:t>
            </a:r>
            <a:r>
              <a:rPr lang="en-IN" dirty="0" err="1"/>
              <a:t>dfs</a:t>
            </a:r>
            <a:r>
              <a:rPr lang="en-IN" dirty="0"/>
              <a:t> -cp /user/</a:t>
            </a:r>
            <a:r>
              <a:rPr lang="en-IN" dirty="0" err="1"/>
              <a:t>cloudera</a:t>
            </a:r>
            <a:r>
              <a:rPr lang="en-IN" dirty="0"/>
              <a:t>/test.txt /user/</a:t>
            </a:r>
            <a:r>
              <a:rPr lang="en-IN" dirty="0" err="1"/>
              <a:t>cloudera</a:t>
            </a:r>
            <a:r>
              <a:rPr lang="en-IN" dirty="0"/>
              <a:t>/test_copy.txt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4956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34628-24AE-DEB7-D501-D2A494253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Big Data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50503-4F17-6FDC-5744-D1F18A5CA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Data Source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HDFS / Data Lake (store data)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Spark (process data)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Analytics / ML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Dashboard / App</a:t>
            </a:r>
          </a:p>
        </p:txBody>
      </p:sp>
    </p:spTree>
    <p:extLst>
      <p:ext uri="{BB962C8B-B14F-4D97-AF65-F5344CB8AC3E}">
        <p14:creationId xmlns:p14="http://schemas.microsoft.com/office/powerpoint/2010/main" val="3375547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BCB6D-B3DC-0335-99AF-5B3C84776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 detail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5388C-9344-86B6-CAAC-C74E608D1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CSV file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Copied to HDFS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HDFS splits into blocks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Spark reads blocks in parallel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Spark creates </a:t>
            </a:r>
            <a:r>
              <a:rPr lang="en-IN" dirty="0" err="1"/>
              <a:t>DataFrame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Transformations (filter, </a:t>
            </a:r>
            <a:r>
              <a:rPr lang="en-IN" dirty="0" err="1"/>
              <a:t>groupBy</a:t>
            </a:r>
            <a:r>
              <a:rPr lang="en-IN" dirty="0"/>
              <a:t>, ML, etc.)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Result stored back to HDFS / shown / sent to DB</a:t>
            </a:r>
          </a:p>
        </p:txBody>
      </p:sp>
    </p:spTree>
    <p:extLst>
      <p:ext uri="{BB962C8B-B14F-4D97-AF65-F5344CB8AC3E}">
        <p14:creationId xmlns:p14="http://schemas.microsoft.com/office/powerpoint/2010/main" val="3582281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D8326-78DF-316A-F2DA-56741EC17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Apache Hive?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0407F-C27A-0ADF-4F0A-458BCC6DE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Hive allows you to work with data stored in Hadoop (HDFS) using a language called </a:t>
            </a:r>
            <a:r>
              <a:rPr lang="en-US" b="1" dirty="0"/>
              <a:t>HiveQL (similar to SQL)</a:t>
            </a:r>
            <a:r>
              <a:rPr lang="en-US" dirty="0"/>
              <a:t>.</a:t>
            </a:r>
          </a:p>
          <a:p>
            <a:r>
              <a:rPr lang="en-US" dirty="0"/>
              <a:t>👉 Think of it like this:</a:t>
            </a:r>
            <a:br>
              <a:rPr lang="en-US" dirty="0"/>
            </a:br>
            <a:r>
              <a:rPr lang="en-US" dirty="0"/>
              <a:t>Instead of writing complex MapReduce programs, you just write:</a:t>
            </a:r>
          </a:p>
          <a:p>
            <a:r>
              <a:rPr lang="en-US" dirty="0"/>
              <a:t>SELECT count(*) FROM logs;</a:t>
            </a:r>
          </a:p>
          <a:p>
            <a:r>
              <a:rPr lang="en-US" dirty="0"/>
              <a:t>Hive internally converts it into MapReduce jobs.</a:t>
            </a:r>
          </a:p>
          <a:p>
            <a:r>
              <a:rPr lang="en-US" dirty="0"/>
              <a:t>Apache Hive is a </a:t>
            </a:r>
            <a:r>
              <a:rPr lang="en-US" b="1" dirty="0"/>
              <a:t>data warehouse system</a:t>
            </a:r>
            <a:r>
              <a:rPr lang="en-US" dirty="0"/>
              <a:t> built on top of Hadoop that helps you query and analyze large datasets using </a:t>
            </a:r>
            <a:r>
              <a:rPr lang="en-US" b="1" dirty="0"/>
              <a:t>SQL-like language instead of writing Java MapReduce code</a:t>
            </a:r>
            <a:r>
              <a:rPr lang="en-US" dirty="0"/>
              <a:t>.</a:t>
            </a:r>
            <a:endParaRPr lang="en-IN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2229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2CBFE-BBC6-0989-88A6-7EFCFB863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Hive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CB1AED-0497-1C6D-9BEB-2DCE888B79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50103"/>
            <a:ext cx="8793579" cy="419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715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4D088-09D8-02C9-462E-29F684823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Hive Architecture (Simple Flow)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294B3-336C-3162-1F73-E12C66822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User writes query (HiveQL)</a:t>
            </a:r>
            <a:r>
              <a:rPr lang="en-US" dirty="0"/>
              <a:t> </a:t>
            </a:r>
          </a:p>
          <a:p>
            <a:r>
              <a:rPr lang="en-US" dirty="0"/>
              <a:t>Query goes to </a:t>
            </a:r>
            <a:r>
              <a:rPr lang="en-US" b="1" dirty="0"/>
              <a:t>Driver</a:t>
            </a:r>
            <a:r>
              <a:rPr lang="en-US" dirty="0"/>
              <a:t> </a:t>
            </a:r>
          </a:p>
          <a:p>
            <a:r>
              <a:rPr lang="en-US" dirty="0"/>
              <a:t>Compiler converts it into execution plan </a:t>
            </a:r>
          </a:p>
          <a:p>
            <a:r>
              <a:rPr lang="en-US" dirty="0"/>
              <a:t>Execution engine runs using: </a:t>
            </a:r>
          </a:p>
          <a:p>
            <a:pPr lvl="1"/>
            <a:r>
              <a:rPr lang="en-US" dirty="0"/>
              <a:t>MapReduce </a:t>
            </a:r>
          </a:p>
          <a:p>
            <a:r>
              <a:rPr lang="en-US" dirty="0"/>
              <a:t>Data is read from: </a:t>
            </a:r>
          </a:p>
          <a:p>
            <a:pPr lvl="1"/>
            <a:r>
              <a:rPr lang="en-US" dirty="0"/>
              <a:t>HDFS </a:t>
            </a:r>
          </a:p>
          <a:p>
            <a:r>
              <a:rPr lang="en-US" dirty="0"/>
              <a:t>Results returned to user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1086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09287-1EC7-3F5E-B4D6-763B3B098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78658-E71F-FB65-B480-72D0D7C5D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🔹 Step 1: Create Table (each line as a string)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CREATE TABLE users(</a:t>
            </a:r>
          </a:p>
          <a:p>
            <a:pPr marL="457200" lvl="1" indent="0">
              <a:buNone/>
            </a:pPr>
            <a:r>
              <a:rPr lang="en-US" dirty="0"/>
              <a:t>  id INT,</a:t>
            </a:r>
          </a:p>
          <a:p>
            <a:pPr marL="457200" lvl="1" indent="0">
              <a:buNone/>
            </a:pPr>
            <a:r>
              <a:rPr lang="en-US" dirty="0"/>
              <a:t> name STRING</a:t>
            </a:r>
          </a:p>
          <a:p>
            <a:pPr marL="457200" lvl="1" indent="0">
              <a:buNone/>
            </a:pP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dirty="0"/>
              <a:t>ROW FORMAT DELIMITED</a:t>
            </a:r>
          </a:p>
          <a:p>
            <a:pPr marL="457200" lvl="1" indent="0">
              <a:buNone/>
            </a:pPr>
            <a:r>
              <a:rPr lang="en-US" dirty="0"/>
              <a:t>FIELDS TERMINATED BY ‘,’</a:t>
            </a:r>
          </a:p>
          <a:p>
            <a:pPr marL="0" indent="0">
              <a:buNone/>
            </a:pPr>
            <a:r>
              <a:rPr lang="en-US" dirty="0"/>
              <a:t>      STORED AS TEXTFILE;</a:t>
            </a:r>
          </a:p>
          <a:p>
            <a:pPr marL="0" indent="0">
              <a:buNone/>
            </a:pPr>
            <a:r>
              <a:rPr lang="en-US" b="1" dirty="0"/>
              <a:t>🔹 Step 2: Load File from HDFS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LOAD DATA INPATH '/user/</a:t>
            </a:r>
            <a:r>
              <a:rPr lang="en-US" dirty="0" err="1"/>
              <a:t>cloudera</a:t>
            </a:r>
            <a:r>
              <a:rPr lang="en-US" dirty="0"/>
              <a:t>/user.csv' INTO TABLE users;</a:t>
            </a:r>
          </a:p>
          <a:p>
            <a:pPr marL="0" indent="0">
              <a:buNone/>
            </a:pPr>
            <a:r>
              <a:rPr lang="en-US" b="1" dirty="0"/>
              <a:t>🔹 Step 3: Display the number of users</a:t>
            </a:r>
          </a:p>
          <a:p>
            <a:pPr marL="457200" lvl="1" indent="0">
              <a:buNone/>
            </a:pPr>
            <a:r>
              <a:rPr lang="en-US" dirty="0"/>
              <a:t>Select count(*) from users;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72256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83A3D-A584-DCBF-E127-BDDCB4575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Iceberg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2EDA5-0A2C-86D7-32F8-8EB96DF8D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</a:t>
            </a:r>
            <a:r>
              <a:rPr lang="en-US" b="1" dirty="0"/>
              <a:t>Apache Iceberg</a:t>
            </a:r>
            <a:r>
              <a:rPr lang="en-US" dirty="0"/>
              <a:t> with Hadoop is a great next step after HDFS + Hive because it solves real problems like </a:t>
            </a:r>
            <a:r>
              <a:rPr lang="en-US" b="1" dirty="0"/>
              <a:t>updates, deletes, schema evolution, and fast queries</a:t>
            </a:r>
            <a:r>
              <a:rPr lang="en-US" dirty="0"/>
              <a:t>.</a:t>
            </a:r>
          </a:p>
          <a:p>
            <a:r>
              <a:rPr lang="en-IN" dirty="0"/>
              <a:t>Iceberg is a </a:t>
            </a:r>
            <a:r>
              <a:rPr lang="en-IN" b="1" dirty="0"/>
              <a:t>table format</a:t>
            </a:r>
            <a:r>
              <a:rPr lang="en-IN" dirty="0"/>
              <a:t> that sits on top of </a:t>
            </a:r>
            <a:r>
              <a:rPr lang="en-IN" b="1" dirty="0"/>
              <a:t>Apache Hadoop HDFS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 Think like this:</a:t>
            </a:r>
          </a:p>
          <a:p>
            <a:r>
              <a:rPr lang="en-IN" dirty="0"/>
              <a:t>HDFS → stores files </a:t>
            </a:r>
          </a:p>
          <a:p>
            <a:r>
              <a:rPr lang="en-IN" dirty="0"/>
              <a:t>Hive → reads tables (but limited updates) </a:t>
            </a:r>
          </a:p>
          <a:p>
            <a:r>
              <a:rPr lang="en-IN" dirty="0"/>
              <a:t>Iceberg → </a:t>
            </a:r>
            <a:r>
              <a:rPr lang="en-IN" b="1" dirty="0"/>
              <a:t>modern table layer with ACID + versioning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61434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A3760-68FC-7AE3-9E3D-678E12EA5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Iceberg is needed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CEDBD-DDBA-660B-ABF6-71E76B5A1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Problems with Hive tables:</a:t>
            </a:r>
          </a:p>
          <a:p>
            <a:r>
              <a:rPr lang="en-IN" dirty="0"/>
              <a:t>❌ No proper UPDATE/DELETE </a:t>
            </a:r>
          </a:p>
          <a:p>
            <a:r>
              <a:rPr lang="en-IN" dirty="0"/>
              <a:t>❌ Slow queries on large data </a:t>
            </a:r>
          </a:p>
          <a:p>
            <a:r>
              <a:rPr lang="en-IN" dirty="0"/>
              <a:t>❌ Schema change is risky </a:t>
            </a:r>
          </a:p>
          <a:p>
            <a:r>
              <a:rPr lang="en-IN" dirty="0"/>
              <a:t>Iceberg solves:</a:t>
            </a:r>
          </a:p>
          <a:p>
            <a:r>
              <a:rPr lang="en-IN" dirty="0"/>
              <a:t>✅ ACID transactions </a:t>
            </a:r>
          </a:p>
          <a:p>
            <a:r>
              <a:rPr lang="en-IN" dirty="0"/>
              <a:t>✅ Time travel (see old data) </a:t>
            </a:r>
          </a:p>
          <a:p>
            <a:r>
              <a:rPr lang="en-IN" dirty="0"/>
              <a:t>✅ Fast queries (metadata pruning) </a:t>
            </a:r>
          </a:p>
          <a:p>
            <a:r>
              <a:rPr lang="en-IN" dirty="0"/>
              <a:t>✅ Works with Spark, Hive, Flink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8690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13F7F-A901-C7A7-594D-B7E03A6CA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3D960-CD43-2261-DDC9-52F8780B5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1️⃣ Start Spark with Iceberg support</a:t>
            </a:r>
          </a:p>
          <a:p>
            <a:r>
              <a:rPr lang="en-IN" dirty="0"/>
              <a:t>spark-shell \</a:t>
            </a:r>
            <a:br>
              <a:rPr lang="en-IN" dirty="0"/>
            </a:br>
            <a:r>
              <a:rPr lang="en-IN" dirty="0"/>
              <a:t>--packages org.apache.iceberg:iceberg-spark-runtime-3.3_2.12:1.4.2</a:t>
            </a:r>
          </a:p>
          <a:p>
            <a:pPr marL="0" indent="0">
              <a:buNone/>
            </a:pPr>
            <a:r>
              <a:rPr lang="en-IN" b="1" dirty="0"/>
              <a:t>2️⃣ Create Iceberg Table</a:t>
            </a:r>
          </a:p>
          <a:p>
            <a:r>
              <a:rPr lang="en-IN" dirty="0"/>
              <a:t>CREATE TABLE </a:t>
            </a:r>
            <a:r>
              <a:rPr lang="en-IN" dirty="0" err="1"/>
              <a:t>local.db.customer_iceberg</a:t>
            </a:r>
            <a:r>
              <a:rPr lang="en-IN" dirty="0"/>
              <a:t> (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customer_id</a:t>
            </a:r>
            <a:r>
              <a:rPr lang="en-IN" dirty="0"/>
              <a:t> INT,</a:t>
            </a:r>
            <a:br>
              <a:rPr lang="en-IN" dirty="0"/>
            </a:br>
            <a:r>
              <a:rPr lang="en-IN" dirty="0"/>
              <a:t>    name STRING,</a:t>
            </a:r>
            <a:br>
              <a:rPr lang="en-IN" dirty="0"/>
            </a:br>
            <a:r>
              <a:rPr lang="en-IN" dirty="0"/>
              <a:t>    city STRING,</a:t>
            </a:r>
            <a:br>
              <a:rPr lang="en-IN" dirty="0"/>
            </a:br>
            <a:r>
              <a:rPr lang="en-IN" dirty="0"/>
              <a:t>    income INT</a:t>
            </a:r>
            <a:br>
              <a:rPr lang="en-IN" dirty="0"/>
            </a:b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USING iceberg;</a:t>
            </a:r>
          </a:p>
          <a:p>
            <a:pPr marL="0" indent="0">
              <a:buNone/>
            </a:pPr>
            <a:r>
              <a:rPr lang="en-IN" dirty="0"/>
              <a:t>This table is stored in HDFS internally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5817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B491D-3B33-93F6-6936-63AC2B4DA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6954E-FF9F-8C4F-56F2-EEF5F0996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3️⃣ Insert Data</a:t>
            </a:r>
          </a:p>
          <a:p>
            <a:r>
              <a:rPr lang="en-IN" dirty="0"/>
              <a:t>INSERT INTO </a:t>
            </a:r>
            <a:r>
              <a:rPr lang="en-IN" dirty="0" err="1"/>
              <a:t>local.db.customer_iceberg</a:t>
            </a:r>
            <a:r>
              <a:rPr lang="en-IN" dirty="0"/>
              <a:t> VALUES</a:t>
            </a:r>
            <a:br>
              <a:rPr lang="en-IN" dirty="0"/>
            </a:br>
            <a:r>
              <a:rPr lang="en-IN" dirty="0"/>
              <a:t>(1, 'Ravi', 'Chennai', 50000),</a:t>
            </a:r>
            <a:br>
              <a:rPr lang="en-IN" dirty="0"/>
            </a:br>
            <a:r>
              <a:rPr lang="en-IN" dirty="0"/>
              <a:t>(2, 'Anita', 'Bangalore', 60000);</a:t>
            </a:r>
          </a:p>
          <a:p>
            <a:pPr marL="0" indent="0">
              <a:buNone/>
            </a:pPr>
            <a:r>
              <a:rPr lang="en-IN" b="1" dirty="0"/>
              <a:t>4️⃣ Query Data</a:t>
            </a:r>
          </a:p>
          <a:p>
            <a:r>
              <a:rPr lang="en-IN" dirty="0"/>
              <a:t>SELECT * FROM </a:t>
            </a:r>
            <a:r>
              <a:rPr lang="en-IN" dirty="0" err="1"/>
              <a:t>local.db.customer_iceberg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b="1" dirty="0"/>
              <a:t>5️⃣ Update (This is where Iceberg shines)</a:t>
            </a:r>
          </a:p>
          <a:p>
            <a:r>
              <a:rPr lang="en-IN" dirty="0"/>
              <a:t>UPDATE </a:t>
            </a:r>
            <a:r>
              <a:rPr lang="en-IN" dirty="0" err="1"/>
              <a:t>local.db.customer_iceberg</a:t>
            </a:r>
            <a:br>
              <a:rPr lang="en-IN" dirty="0"/>
            </a:br>
            <a:r>
              <a:rPr lang="en-IN" dirty="0"/>
              <a:t>SET income = 70000</a:t>
            </a:r>
            <a:br>
              <a:rPr lang="en-IN" dirty="0"/>
            </a:br>
            <a:r>
              <a:rPr lang="en-IN" dirty="0"/>
              <a:t>WHERE </a:t>
            </a:r>
            <a:r>
              <a:rPr lang="en-IN" dirty="0" err="1"/>
              <a:t>customer_id</a:t>
            </a:r>
            <a:r>
              <a:rPr lang="en-IN" dirty="0"/>
              <a:t> = 1;</a:t>
            </a:r>
          </a:p>
          <a:p>
            <a:r>
              <a:rPr lang="en-IN" dirty="0"/>
              <a:t>👉 Not possible easily in Hive, but Iceberg supports it</a:t>
            </a:r>
          </a:p>
          <a:p>
            <a:pPr marL="0" indent="0">
              <a:buNone/>
            </a:pPr>
            <a:r>
              <a:rPr lang="en-IN" b="1" dirty="0"/>
              <a:t>6️⃣ Delete</a:t>
            </a:r>
          </a:p>
          <a:p>
            <a:r>
              <a:rPr lang="en-IN" dirty="0"/>
              <a:t>DELETE FROM </a:t>
            </a:r>
            <a:r>
              <a:rPr lang="en-IN" dirty="0" err="1"/>
              <a:t>local.db.customer_iceberg</a:t>
            </a:r>
            <a:br>
              <a:rPr lang="en-IN" dirty="0"/>
            </a:br>
            <a:r>
              <a:rPr lang="en-IN" dirty="0"/>
              <a:t>WHERE </a:t>
            </a:r>
            <a:r>
              <a:rPr lang="en-IN" dirty="0" err="1"/>
              <a:t>customer_id</a:t>
            </a:r>
            <a:r>
              <a:rPr lang="en-IN" dirty="0"/>
              <a:t> = 2;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01181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9852D-2BF7-2910-1189-3ECD7C5AF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Apache Spark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9F140-632D-640F-798D-AC9DD91A4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Apache Spark</a:t>
            </a:r>
            <a:r>
              <a:rPr lang="en-US" dirty="0"/>
              <a:t> is a </a:t>
            </a:r>
            <a:r>
              <a:rPr lang="en-US" b="1" dirty="0"/>
              <a:t>fast, distributed data processing engine</a:t>
            </a:r>
            <a:r>
              <a:rPr lang="en-US" dirty="0"/>
              <a:t> used to process large datasets.</a:t>
            </a:r>
          </a:p>
          <a:p>
            <a:pPr marL="0" indent="0">
              <a:buNone/>
            </a:pPr>
            <a:r>
              <a:rPr lang="en-US" dirty="0"/>
              <a:t>In simple terms:</a:t>
            </a:r>
          </a:p>
          <a:p>
            <a:r>
              <a:rPr lang="en-US" dirty="0"/>
              <a:t>It reads data from sources like HDFS, processes it quickly (in memory), and gives results.</a:t>
            </a:r>
          </a:p>
          <a:p>
            <a:pPr marL="0" indent="0">
              <a:buNone/>
            </a:pPr>
            <a:r>
              <a:rPr lang="en-US" b="1" dirty="0"/>
              <a:t> Why Spark is popular</a:t>
            </a:r>
          </a:p>
          <a:p>
            <a:pPr marL="0" indent="0">
              <a:buNone/>
            </a:pPr>
            <a:r>
              <a:rPr lang="en-US" dirty="0"/>
              <a:t>Compared to traditional Hadoop MapReduce:</a:t>
            </a:r>
          </a:p>
          <a:p>
            <a:r>
              <a:rPr lang="en-US" dirty="0"/>
              <a:t>Much faster (in-memory processing) </a:t>
            </a:r>
          </a:p>
          <a:p>
            <a:r>
              <a:rPr lang="en-US" dirty="0"/>
              <a:t>Supports real-time streaming </a:t>
            </a:r>
          </a:p>
          <a:p>
            <a:r>
              <a:rPr lang="en-US" dirty="0"/>
              <a:t>Easy integration with HDFS, Hive, Kafka </a:t>
            </a:r>
          </a:p>
          <a:p>
            <a:r>
              <a:rPr lang="en-US" dirty="0"/>
              <a:t>Supports SQL, Machine Learning, Graph processing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51895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B7B1F-890D-2CA6-198E-DD8E158AA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Where Spark fits in your project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9FD5D-27E7-EB5A-CF7A-6FD9D0E05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Data (CSV / JSON / Streaming)</a:t>
            </a:r>
            <a:br>
              <a:rPr lang="en-IN" dirty="0"/>
            </a:br>
            <a:r>
              <a:rPr lang="en-IN" dirty="0"/>
              <a:t>        ↓</a:t>
            </a:r>
            <a:br>
              <a:rPr lang="en-IN" dirty="0"/>
            </a:br>
            <a:r>
              <a:rPr lang="en-IN" dirty="0"/>
              <a:t>HDFS (Storage)</a:t>
            </a:r>
            <a:br>
              <a:rPr lang="en-IN" dirty="0"/>
            </a:br>
            <a:r>
              <a:rPr lang="en-IN" dirty="0"/>
              <a:t>        ↓</a:t>
            </a:r>
            <a:br>
              <a:rPr lang="en-IN" dirty="0"/>
            </a:br>
            <a:r>
              <a:rPr lang="en-IN" dirty="0"/>
              <a:t>Spark (Processing Engine)</a:t>
            </a:r>
            <a:br>
              <a:rPr lang="en-IN" dirty="0"/>
            </a:br>
            <a:r>
              <a:rPr lang="en-IN" dirty="0"/>
              <a:t>        ↓</a:t>
            </a:r>
            <a:br>
              <a:rPr lang="en-IN" dirty="0"/>
            </a:br>
            <a:r>
              <a:rPr lang="en-IN" dirty="0"/>
              <a:t>Output (Console / HDFS / Dashboard)</a:t>
            </a:r>
          </a:p>
          <a:p>
            <a:r>
              <a:rPr lang="en-IN" dirty="0"/>
              <a:t>Spark </a:t>
            </a:r>
            <a:r>
              <a:rPr lang="en-IN" b="1" dirty="0"/>
              <a:t>does NOT store data permanently</a:t>
            </a:r>
            <a:br>
              <a:rPr lang="en-IN" dirty="0"/>
            </a:br>
            <a:r>
              <a:rPr lang="en-IN" dirty="0"/>
              <a:t>It </a:t>
            </a:r>
            <a:r>
              <a:rPr lang="en-IN" b="1" dirty="0"/>
              <a:t>processes data stored in HDFS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24797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5DF7B-0FA1-15A0-6ADF-D3A630AA3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6F31E-B40B-1761-45F1-1F5B9C50E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pyspark.sql</a:t>
            </a:r>
            <a:r>
              <a:rPr lang="en-IN" dirty="0"/>
              <a:t> import </a:t>
            </a:r>
            <a:r>
              <a:rPr lang="en-IN" dirty="0" err="1"/>
              <a:t>SparkSession</a:t>
            </a:r>
            <a:br>
              <a:rPr lang="en-IN" dirty="0"/>
            </a:br>
            <a:br>
              <a:rPr lang="en-IN" dirty="0"/>
            </a:br>
            <a:r>
              <a:rPr lang="en-IN" dirty="0"/>
              <a:t>spark = </a:t>
            </a:r>
            <a:r>
              <a:rPr lang="en-IN" dirty="0" err="1"/>
              <a:t>SparkSession.builder.appName</a:t>
            </a:r>
            <a:r>
              <a:rPr lang="en-IN" dirty="0"/>
              <a:t>("Demo").</a:t>
            </a:r>
            <a:r>
              <a:rPr lang="en-IN" dirty="0" err="1"/>
              <a:t>getOrCreate</a:t>
            </a:r>
            <a:r>
              <a:rPr lang="en-IN" dirty="0"/>
              <a:t>()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df</a:t>
            </a:r>
            <a:r>
              <a:rPr lang="en-IN" dirty="0"/>
              <a:t> = spark.read.csv(“/user/</a:t>
            </a:r>
            <a:r>
              <a:rPr lang="en-IN" dirty="0" err="1"/>
              <a:t>cloudera</a:t>
            </a:r>
            <a:r>
              <a:rPr lang="en-IN" dirty="0"/>
              <a:t>/customer.csv", header=True, </a:t>
            </a:r>
            <a:r>
              <a:rPr lang="en-IN" dirty="0" err="1"/>
              <a:t>inferSchema</a:t>
            </a:r>
            <a:r>
              <a:rPr lang="en-IN" dirty="0"/>
              <a:t>=True)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df.show</a:t>
            </a:r>
            <a:r>
              <a:rPr lang="en-IN" dirty="0"/>
              <a:t>()  # Reads data from HDFS and displays it</a:t>
            </a:r>
          </a:p>
          <a:p>
            <a:pPr marL="0" indent="0">
              <a:buNone/>
            </a:pPr>
            <a:r>
              <a:rPr lang="en-IN" dirty="0" err="1"/>
              <a:t>df.filter</a:t>
            </a:r>
            <a:r>
              <a:rPr lang="en-IN" dirty="0"/>
              <a:t>(</a:t>
            </a:r>
            <a:r>
              <a:rPr lang="en-IN" dirty="0" err="1"/>
              <a:t>df.income</a:t>
            </a:r>
            <a:r>
              <a:rPr lang="en-IN" dirty="0"/>
              <a:t> &gt; 50000).show()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Runs the file using : spark-submit test.py</a:t>
            </a:r>
          </a:p>
        </p:txBody>
      </p:sp>
    </p:spTree>
    <p:extLst>
      <p:ext uri="{BB962C8B-B14F-4D97-AF65-F5344CB8AC3E}">
        <p14:creationId xmlns:p14="http://schemas.microsoft.com/office/powerpoint/2010/main" val="41899158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6509D-0DB1-C459-DDB7-632C78E7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Everything together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EDA6DA-D5B0-AC4F-9B3A-A1587EDC3C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0229" y="1533010"/>
            <a:ext cx="8610600" cy="515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5194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D38EB-3590-1C76-9254-110340AB8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Spark output integration with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0579A-D948-C8FA-E57E-2737CA550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Raw Data (HDFS / Streaming)</a:t>
            </a:r>
            <a:br>
              <a:rPr lang="en-IN" dirty="0"/>
            </a:br>
            <a:r>
              <a:rPr lang="en-IN" dirty="0"/>
              <a:t>        ↓</a:t>
            </a:r>
            <a:br>
              <a:rPr lang="en-IN" dirty="0"/>
            </a:br>
            <a:r>
              <a:rPr lang="en-IN" dirty="0"/>
              <a:t>Spark Processing (clean, join, filter)</a:t>
            </a:r>
            <a:br>
              <a:rPr lang="en-IN" dirty="0"/>
            </a:br>
            <a:r>
              <a:rPr lang="en-IN" dirty="0"/>
              <a:t>        ↓</a:t>
            </a:r>
            <a:br>
              <a:rPr lang="en-IN" dirty="0"/>
            </a:br>
            <a:r>
              <a:rPr lang="en-IN" dirty="0"/>
              <a:t>Feature Data (final </a:t>
            </a:r>
            <a:r>
              <a:rPr lang="en-IN" dirty="0" err="1"/>
              <a:t>DataFrame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        ↓</a:t>
            </a:r>
            <a:br>
              <a:rPr lang="en-IN" dirty="0"/>
            </a:br>
            <a:r>
              <a:rPr lang="en-IN" dirty="0"/>
              <a:t>Machine Learning Model</a:t>
            </a:r>
            <a:br>
              <a:rPr lang="en-IN" dirty="0"/>
            </a:br>
            <a:r>
              <a:rPr lang="en-IN" dirty="0"/>
              <a:t>        ↓</a:t>
            </a:r>
            <a:br>
              <a:rPr lang="en-IN" dirty="0"/>
            </a:br>
            <a:r>
              <a:rPr lang="en-IN" dirty="0"/>
              <a:t>Predictions / Insights</a:t>
            </a:r>
          </a:p>
          <a:p>
            <a:r>
              <a:rPr lang="en-IN" dirty="0"/>
              <a:t>Spark prepares </a:t>
            </a:r>
            <a:r>
              <a:rPr lang="en-IN" b="1" dirty="0"/>
              <a:t>clean, structured data</a:t>
            </a:r>
            <a:br>
              <a:rPr lang="en-IN" dirty="0"/>
            </a:br>
            <a:r>
              <a:rPr lang="en-IN" dirty="0"/>
              <a:t>ML uses that data to </a:t>
            </a:r>
            <a:r>
              <a:rPr lang="en-IN" b="1" dirty="0"/>
              <a:t>predict or classify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74990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4765F-743D-1896-8C1C-C2F9EBB80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Display spark output to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117ED-EE8E-FC8E-FE6C-E3E1FB5A9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✅ STEP 1: Save Spark output to Hive table</a:t>
            </a:r>
          </a:p>
          <a:p>
            <a:pPr marL="0" indent="0">
              <a:buNone/>
            </a:pPr>
            <a:r>
              <a:rPr lang="en-US" dirty="0" err="1"/>
              <a:t>df.write.mode</a:t>
            </a:r>
            <a:r>
              <a:rPr lang="en-US" dirty="0"/>
              <a:t>("overwrite").</a:t>
            </a:r>
            <a:r>
              <a:rPr lang="en-US" dirty="0" err="1"/>
              <a:t>saveAsTable</a:t>
            </a:r>
            <a:r>
              <a:rPr lang="en-US" dirty="0"/>
              <a:t>("</a:t>
            </a:r>
            <a:r>
              <a:rPr lang="en-US" dirty="0" err="1"/>
              <a:t>customer_summary</a:t>
            </a:r>
            <a:r>
              <a:rPr lang="en-US" dirty="0"/>
              <a:t>")</a:t>
            </a:r>
          </a:p>
          <a:p>
            <a:pPr marL="0" indent="0">
              <a:buNone/>
            </a:pPr>
            <a:r>
              <a:rPr lang="en-US" dirty="0"/>
              <a:t>✅ STEP 2: Verify in Hive</a:t>
            </a:r>
          </a:p>
          <a:p>
            <a:pPr marL="0" indent="0">
              <a:buNone/>
            </a:pPr>
            <a:r>
              <a:rPr lang="en-IN" dirty="0"/>
              <a:t>SELECT * FROM </a:t>
            </a:r>
            <a:r>
              <a:rPr lang="en-IN" dirty="0" err="1"/>
              <a:t>customer_summary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US" dirty="0"/>
              <a:t>✅ STEP 3: Open Dashboard Tool in Cloudera</a:t>
            </a:r>
          </a:p>
          <a:p>
            <a:pPr marL="0" indent="0">
              <a:buNone/>
            </a:pPr>
            <a:r>
              <a:rPr lang="en-US" dirty="0"/>
              <a:t>SELECT city, COUNT(*) FROM </a:t>
            </a:r>
            <a:r>
              <a:rPr lang="en-US" dirty="0" err="1"/>
              <a:t>customer_summary</a:t>
            </a:r>
            <a:r>
              <a:rPr lang="en-US" dirty="0"/>
              <a:t> GROUP BY city;</a:t>
            </a:r>
          </a:p>
          <a:p>
            <a:pPr marL="0" indent="0">
              <a:buNone/>
            </a:pPr>
            <a:r>
              <a:rPr lang="en-US" dirty="0"/>
              <a:t>Then click:</a:t>
            </a:r>
          </a:p>
          <a:p>
            <a:r>
              <a:rPr lang="en-US" dirty="0"/>
              <a:t>“Chart” </a:t>
            </a:r>
          </a:p>
          <a:p>
            <a:r>
              <a:rPr lang="en-US" dirty="0"/>
              <a:t>Choose Bar / Pie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46315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598B3-137A-C0D5-8326-6F7AD4F70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handle Real Time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4C46D-873B-2C02-DC40-8DEAFE249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Create file1.csv</a:t>
            </a:r>
          </a:p>
          <a:p>
            <a:r>
              <a:rPr lang="en-IN" dirty="0"/>
              <a:t>1,Ravi,Chennai,50000</a:t>
            </a:r>
            <a:br>
              <a:rPr lang="en-IN" dirty="0"/>
            </a:br>
            <a:r>
              <a:rPr lang="en-IN" dirty="0"/>
              <a:t>2,Anita,Bangalore,70000</a:t>
            </a:r>
          </a:p>
          <a:p>
            <a:r>
              <a:rPr lang="en-IN" b="1" dirty="0"/>
              <a:t>Upload:</a:t>
            </a:r>
          </a:p>
          <a:p>
            <a:r>
              <a:rPr lang="en-IN" dirty="0" err="1"/>
              <a:t>hdfs</a:t>
            </a:r>
            <a:r>
              <a:rPr lang="en-IN" dirty="0"/>
              <a:t> </a:t>
            </a:r>
            <a:r>
              <a:rPr lang="en-IN" dirty="0" err="1"/>
              <a:t>dfs</a:t>
            </a:r>
            <a:r>
              <a:rPr lang="en-IN" dirty="0"/>
              <a:t> -</a:t>
            </a:r>
            <a:r>
              <a:rPr lang="en-IN" dirty="0" err="1"/>
              <a:t>mkdir</a:t>
            </a:r>
            <a:r>
              <a:rPr lang="en-IN" dirty="0"/>
              <a:t> /user/</a:t>
            </a:r>
            <a:r>
              <a:rPr lang="en-IN" dirty="0" err="1"/>
              <a:t>stream_data</a:t>
            </a:r>
            <a:br>
              <a:rPr lang="en-IN" dirty="0"/>
            </a:br>
            <a:r>
              <a:rPr lang="en-IN" dirty="0" err="1"/>
              <a:t>hdfs</a:t>
            </a:r>
            <a:r>
              <a:rPr lang="en-IN" dirty="0"/>
              <a:t> </a:t>
            </a:r>
            <a:r>
              <a:rPr lang="en-IN" dirty="0" err="1"/>
              <a:t>dfs</a:t>
            </a:r>
            <a:r>
              <a:rPr lang="en-IN" dirty="0"/>
              <a:t> -put file1.csv /user/</a:t>
            </a:r>
            <a:r>
              <a:rPr lang="en-IN" dirty="0" err="1"/>
              <a:t>stream_data</a:t>
            </a:r>
            <a:r>
              <a:rPr lang="en-IN" dirty="0"/>
              <a:t>/</a:t>
            </a:r>
          </a:p>
          <a:p>
            <a:r>
              <a:rPr lang="en-IN" b="1" dirty="0"/>
              <a:t>After 10 seconds → create file2.csv</a:t>
            </a:r>
          </a:p>
          <a:p>
            <a:r>
              <a:rPr lang="en-IN" dirty="0"/>
              <a:t>3,Kiran,Hyderabad,60000</a:t>
            </a:r>
            <a:br>
              <a:rPr lang="en-IN" dirty="0"/>
            </a:br>
            <a:r>
              <a:rPr lang="en-IN" dirty="0"/>
              <a:t>4,Meena,Chennai,65000</a:t>
            </a:r>
          </a:p>
          <a:p>
            <a:r>
              <a:rPr lang="en-IN" dirty="0" err="1"/>
              <a:t>hdfs</a:t>
            </a:r>
            <a:r>
              <a:rPr lang="en-IN" dirty="0"/>
              <a:t> </a:t>
            </a:r>
            <a:r>
              <a:rPr lang="en-IN" dirty="0" err="1"/>
              <a:t>dfs</a:t>
            </a:r>
            <a:r>
              <a:rPr lang="en-IN" dirty="0"/>
              <a:t> -put file2.csv /user/</a:t>
            </a:r>
            <a:r>
              <a:rPr lang="en-IN" dirty="0" err="1"/>
              <a:t>stream_data</a:t>
            </a:r>
            <a:r>
              <a:rPr lang="en-IN" dirty="0"/>
              <a:t>/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8737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15170</TotalTime>
  <Words>1752</Words>
  <Application>Microsoft Office PowerPoint</Application>
  <PresentationFormat>Widescreen</PresentationFormat>
  <Paragraphs>234</Paragraphs>
  <Slides>33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Aptos Display</vt:lpstr>
      <vt:lpstr>Arial</vt:lpstr>
      <vt:lpstr>Office Theme</vt:lpstr>
      <vt:lpstr>Hadoop</vt:lpstr>
      <vt:lpstr>What is Big Data? </vt:lpstr>
      <vt:lpstr>The 3 V’s of Big Data</vt:lpstr>
      <vt:lpstr>Real-life example</vt:lpstr>
      <vt:lpstr>What is Hadoop</vt:lpstr>
      <vt:lpstr>Where Hadoop is used</vt:lpstr>
      <vt:lpstr>Components of Hadoop Architecture</vt:lpstr>
      <vt:lpstr>Hadoop Architecture</vt:lpstr>
      <vt:lpstr>PowerPoint Presentation</vt:lpstr>
      <vt:lpstr>Core components of Hadoop </vt:lpstr>
      <vt:lpstr>MapReduce (Processing layer – old but foundational) </vt:lpstr>
      <vt:lpstr>Cloudera</vt:lpstr>
      <vt:lpstr>Cloudera Data Platform</vt:lpstr>
      <vt:lpstr>HDFS Commands</vt:lpstr>
      <vt:lpstr>Cont…</vt:lpstr>
      <vt:lpstr>PowerPoint Presentation</vt:lpstr>
      <vt:lpstr>Big Data Architecture</vt:lpstr>
      <vt:lpstr>In detail</vt:lpstr>
      <vt:lpstr>What is Apache Hive? </vt:lpstr>
      <vt:lpstr>Hive Architecture</vt:lpstr>
      <vt:lpstr>Hive Architecture (Simple Flow) </vt:lpstr>
      <vt:lpstr>Steps</vt:lpstr>
      <vt:lpstr>Iceberg</vt:lpstr>
      <vt:lpstr>Why Iceberg is needed </vt:lpstr>
      <vt:lpstr>Steps</vt:lpstr>
      <vt:lpstr>Cont…</vt:lpstr>
      <vt:lpstr>Apache Spark</vt:lpstr>
      <vt:lpstr>Where Spark fits in your project </vt:lpstr>
      <vt:lpstr>Test.py</vt:lpstr>
      <vt:lpstr>Everything together</vt:lpstr>
      <vt:lpstr>Spark output integration with ML</vt:lpstr>
      <vt:lpstr>Display spark output to dashboard</vt:lpstr>
      <vt:lpstr>How to handle Real Time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kavita gupta</dc:creator>
  <cp:lastModifiedBy>kavita gupta</cp:lastModifiedBy>
  <cp:revision>19</cp:revision>
  <dcterms:created xsi:type="dcterms:W3CDTF">2026-02-03T19:23:41Z</dcterms:created>
  <dcterms:modified xsi:type="dcterms:W3CDTF">2026-04-29T06:52:15Z</dcterms:modified>
</cp:coreProperties>
</file>